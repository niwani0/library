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468880" cy="310896"/>
          </a:xfrm>
          <a:prstGeom prst="roundRect">
            <a:avLst>
              <a:gd name="adj" fmla="val 16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Acquisition deep-dive · 1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THE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0B1E34"/>
                </a:solidFill>
                <a:latin typeface="Segoe UI"/>
              </a:rPr>
              <a:t>Acquisition is the first quality-control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470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1E34"/>
                </a:solidFill>
                <a:latin typeface="Segoe UI"/>
              </a:rPr>
              <a:t>What makes an NTB customer “good”?  </a:t>
            </a:r>
            <a:r>
              <a:rPr sz="1100" b="0">
                <a:solidFill>
                  <a:srgbClr val="5C6B7A"/>
                </a:solidFill>
                <a:latin typeface="Segoe UI"/>
              </a:rPr>
              <a:t>Not an account opened — a customer who clears early-life quality gates.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12848"/>
            <a:ext cx="2615184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" y="2194560"/>
            <a:ext cx="2542032" cy="73152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40864"/>
            <a:ext cx="235915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1E34"/>
                </a:solidFill>
                <a:latin typeface="Segoe UI"/>
              </a:rPr>
              <a:t>1 · Funded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Money in within X days of onboarding.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0984" y="2212848"/>
            <a:ext cx="2615184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2194560"/>
            <a:ext cx="2542032" cy="73152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8144" y="2340864"/>
            <a:ext cx="235915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1E34"/>
                </a:solidFill>
                <a:latin typeface="Segoe UI"/>
              </a:rPr>
              <a:t>2 · TRB-qualified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Crosses the threshold within Y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3327" y="2212848"/>
            <a:ext cx="2615184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89903" y="2194560"/>
            <a:ext cx="2542032" cy="73152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340864"/>
            <a:ext cx="235915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1E34"/>
                </a:solidFill>
                <a:latin typeface="Segoe UI"/>
              </a:rPr>
              <a:t>3 · Wealth-activated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First wealth product / NNIA within Z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05672" y="2212848"/>
            <a:ext cx="2615184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42247" y="2194560"/>
            <a:ext cx="2542032" cy="73152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2832" y="2340864"/>
            <a:ext cx="235915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1E34"/>
                </a:solidFill>
                <a:latin typeface="Segoe UI"/>
              </a:rPr>
              <a:t>4 · Sustained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Still qualified at MOB12 — not a spike.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37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4"/>
                </a:solidFill>
                <a:latin typeface="Segoe UI"/>
              </a:rPr>
              <a:t>Close the early-life quality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6732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E34"/>
                </a:solidFill>
                <a:latin typeface="Segoe UI"/>
              </a:rPr>
              <a:t>New cohort @MOB3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48840" y="3730752"/>
            <a:ext cx="3383280" cy="27432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48840" y="3730752"/>
            <a:ext cx="1488643" cy="27432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3758184"/>
            <a:ext cx="139720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5137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1E34"/>
                </a:solidFill>
                <a:latin typeface="Segoe UI"/>
              </a:rPr>
              <a:t>On-book (MOB4+)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4114800"/>
            <a:ext cx="3383280" cy="27432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48840" y="4114800"/>
            <a:ext cx="2435961" cy="274320"/>
          </a:xfrm>
          <a:prstGeom prst="roundRect">
            <a:avLst>
              <a:gd name="adj" fmla="val 1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4142232"/>
            <a:ext cx="234452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2628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C6B7A"/>
                </a:solidFill>
                <a:latin typeface="Segoe UI"/>
              </a:rPr>
              <a:t>The model's job: lift new-cohort penetration toward the on-book rate in the first 3–6 months. Every vintage acquired at 22% dilutes the book before conversion can lift it. MOB3 qualification is flat at ~38–39%; TRB per new customer ~$69k (dipped to $62k in 2025).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375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4"/>
                </a:solidFill>
                <a:latin typeface="Segoe UI"/>
              </a:rPr>
              <a:t>Source quality is the lever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033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8A4C"/>
                </a:solidFill>
                <a:latin typeface="Segoe UI"/>
              </a:rPr>
              <a:t>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70332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E34"/>
                </a:solidFill>
                <a:latin typeface="Segoe UI"/>
              </a:rPr>
              <a:t>High-quality channels </a:t>
            </a:r>
            <a:r>
              <a:rPr sz="1050" b="0">
                <a:solidFill>
                  <a:srgbClr val="5C6B7A"/>
                </a:solidFill>
                <a:latin typeface="Segoe UI"/>
              </a:rPr>
              <a:t>— AOC-type, 45% MOB3 penetration. Fund and expand.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7024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562B"/>
                </a:solidFill>
                <a:latin typeface="Segoe UI"/>
              </a:rPr>
              <a:t>REDESIGN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270248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E34"/>
                </a:solidFill>
                <a:latin typeface="Segoe UI"/>
              </a:rPr>
              <a:t>Weak channels </a:t>
            </a:r>
            <a:r>
              <a:rPr sz="1050" b="0">
                <a:solidFill>
                  <a:srgbClr val="5C6B7A"/>
                </a:solidFill>
                <a:latin typeface="Segoe UI"/>
              </a:rPr>
              <a:t>— UAE / Singapore, ~10% MOB3 penetration. Rework the hook and journey.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37176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392B"/>
                </a:solidFill>
                <a:latin typeface="Segoe UI"/>
              </a:rPr>
              <a:t>STOP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837176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E34"/>
                </a:solidFill>
                <a:latin typeface="Segoe UI"/>
              </a:rPr>
              <a:t>Persistently dilutive </a:t>
            </a:r>
            <a:r>
              <a:rPr sz="1050" b="0">
                <a:solidFill>
                  <a:srgbClr val="5C6B7A"/>
                </a:solidFill>
                <a:latin typeface="Segoe UI"/>
              </a:rPr>
              <a:t>acquisition — reallocate the spend to quality.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E34"/>
                </a:solidFill>
                <a:latin typeface="Segoe UI"/>
              </a:rPr>
              <a:t>Hero conversion pathways — a product hook per source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760720"/>
            <a:ext cx="2615184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5833872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E34"/>
                </a:solidFill>
                <a:latin typeface="Segoe UI"/>
              </a:rPr>
              <a:t>TD hook</a:t>
            </a:r>
            <a:r>
              <a:rPr sz="1050" b="0">
                <a:solidFill>
                  <a:srgbClr val="10202E"/>
                </a:solidFill>
                <a:latin typeface="Segoe UI"/>
              </a:rPr>
              <a:t> → income / yield solution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00984" y="5760720"/>
            <a:ext cx="2615184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5833872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E34"/>
                </a:solidFill>
                <a:latin typeface="Segoe UI"/>
              </a:rPr>
              <a:t>International</a:t>
            </a:r>
            <a:r>
              <a:rPr sz="1050" b="0">
                <a:solidFill>
                  <a:srgbClr val="10202E"/>
                </a:solidFill>
                <a:latin typeface="Segoe UI"/>
              </a:rPr>
              <a:t> (UAE salary) → offshore wealth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53327" y="5760720"/>
            <a:ext cx="2615184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199" y="5833872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E34"/>
                </a:solidFill>
                <a:latin typeface="Segoe UI"/>
              </a:rPr>
              <a:t>Mortgage</a:t>
            </a:r>
            <a:r>
              <a:rPr sz="1050" b="0">
                <a:solidFill>
                  <a:srgbClr val="10202E"/>
                </a:solidFill>
                <a:latin typeface="Segoe UI"/>
              </a:rPr>
              <a:t> → investable balance conversion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05672" y="5760720"/>
            <a:ext cx="2615184" cy="45720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24544" y="5833872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E34"/>
                </a:solidFill>
                <a:latin typeface="Segoe UI"/>
              </a:rPr>
              <a:t>Card-only</a:t>
            </a:r>
            <a:r>
              <a:rPr sz="1050" b="0">
                <a:solidFill>
                  <a:srgbClr val="10202E"/>
                </a:solidFill>
                <a:latin typeface="Segoe UI"/>
              </a:rPr>
              <a:t> → funded Premier &amp; activation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ACQUISITION MODEL &amp;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468880" cy="310896"/>
          </a:xfrm>
          <a:prstGeom prst="roundRect">
            <a:avLst>
              <a:gd name="adj" fmla="val 16000"/>
            </a:avLst>
          </a:prstGeom>
          <a:solidFill>
            <a:srgbClr val="0B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Acquisition deep-dive · 2 /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962F"/>
                </a:solidFill>
                <a:latin typeface="Segoe UI"/>
              </a:rPr>
              <a:t>THE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0B1E34"/>
                </a:solidFill>
                <a:latin typeface="Segoe UI"/>
              </a:rPr>
              <a:t>Shift the mix from volume to wealth-capable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470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4"/>
                </a:solidFill>
                <a:latin typeface="Segoe UI"/>
              </a:rPr>
              <a:t>The strategic shift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57984"/>
            <a:ext cx="5257800" cy="23774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C6B7A"/>
                </a:solidFill>
                <a:latin typeface="Segoe UI"/>
              </a:rPr>
              <a:t>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9456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C6B7A"/>
                </a:solidFill>
                <a:latin typeface="Segoe UI"/>
              </a:rPr>
              <a:t>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414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Volume — accounts opened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4144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Quality — funded, qualified, NNIA-generating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16352"/>
            <a:ext cx="5257800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86207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All channels treated equally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86207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Channels gated &amp; funded by wealth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36976"/>
            <a:ext cx="5257800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28269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Acquisition &amp; conversion blurred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8269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Separated, vintage-tracked funnels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5257800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703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Spend by cost-per-acquisition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703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Spend by expected wealth value &amp; payback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78224"/>
            <a:ext cx="5257800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12394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6B7A"/>
                </a:solidFill>
                <a:latin typeface="Segoe UI"/>
              </a:rPr>
              <a:t>“Good = account opened”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12394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“Good = funded + qualified + activated + sustained”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98848"/>
            <a:ext cx="5257800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847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E34"/>
                </a:solidFill>
                <a:latin typeface="Segoe UI"/>
              </a:rPr>
              <a:t>Five moves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240280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2240280"/>
            <a:ext cx="49743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E34"/>
                </a:solidFill>
                <a:latin typeface="Segoe UI"/>
              </a:rPr>
              <a:t>Set the quality standard</a:t>
            </a:r>
            <a:r>
              <a:rPr sz="1050" b="0">
                <a:solidFill>
                  <a:srgbClr val="5C6B7A"/>
                </a:solidFill>
                <a:latin typeface="Segoe UI"/>
              </a:rPr>
              <a:t> — one “good NTB” definition and a minimum MOB3 penetration target above today's 22%.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761488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2761488"/>
            <a:ext cx="49743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E34"/>
                </a:solidFill>
                <a:latin typeface="Segoe UI"/>
              </a:rPr>
              <a:t>Gate &amp; measure by channel, campaign, vintage</a:t>
            </a:r>
            <a:r>
              <a:rPr sz="1050" b="0">
                <a:solidFill>
                  <a:srgbClr val="5C6B7A"/>
                </a:solidFill>
                <a:latin typeface="Segoe UI"/>
              </a:rPr>
              <a:t> — funded / qualified / activated by source, not blended.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282696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8544" y="3282696"/>
            <a:ext cx="49743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E34"/>
                </a:solidFill>
                <a:latin typeface="Segoe UI"/>
              </a:rPr>
              <a:t>Reallocate the mix</a:t>
            </a:r>
            <a:r>
              <a:rPr sz="1050" b="0">
                <a:solidFill>
                  <a:srgbClr val="5C6B7A"/>
                </a:solidFill>
                <a:latin typeface="Segoe UI"/>
              </a:rPr>
              <a:t> — scale AOC-type quality, redesign UAE / SGH channels, stop persistently dilutive spend.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803904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8544" y="3803904"/>
            <a:ext cx="49743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E34"/>
                </a:solidFill>
                <a:latin typeface="Segoe UI"/>
              </a:rPr>
              <a:t>Build hero pathways</a:t>
            </a:r>
            <a:r>
              <a:rPr sz="1050" b="0">
                <a:solidFill>
                  <a:srgbClr val="5C6B7A"/>
                </a:solidFill>
                <a:latin typeface="Segoe UI"/>
              </a:rPr>
              <a:t> — a product-hook journey per source (TD, international, mortgage, card-only).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325112"/>
            <a:ext cx="347472" cy="347472"/>
          </a:xfrm>
          <a:prstGeom prst="roundRect">
            <a:avLst>
              <a:gd name="adj" fmla="val 22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8544" y="4325112"/>
            <a:ext cx="4974336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1E34"/>
                </a:solidFill>
                <a:latin typeface="Segoe UI"/>
              </a:rPr>
              <a:t>Cockpit &amp; governance</a:t>
            </a:r>
            <a:r>
              <a:rPr sz="1050" b="0">
                <a:solidFill>
                  <a:srgbClr val="5C6B7A"/>
                </a:solidFill>
                <a:latin typeface="Segoe UI"/>
              </a:rPr>
              <a:t> — review early-life KPIs monthly; scale what converts, kill what doesn't.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6177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1E34"/>
                </a:solidFill>
                <a:latin typeface="Segoe UI"/>
              </a:rPr>
              <a:t>Acquisition cockpit — early-life KPIs to steer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937760"/>
            <a:ext cx="21031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5216" y="4919472"/>
            <a:ext cx="2029967" cy="73152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5047488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Funded rate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Segoe UI"/>
              </a:rPr>
              <a:t>≤ X days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88920" y="4937760"/>
            <a:ext cx="21031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25496" y="4919472"/>
            <a:ext cx="2029967" cy="73152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16936" y="5047488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TRB-qualified @MOB3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Segoe UI"/>
              </a:rPr>
              <a:t>~38% → lift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4937760"/>
            <a:ext cx="21031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65776" y="4919472"/>
            <a:ext cx="2029967" cy="73152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57216" y="5047488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Wealth pen. @MOB3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Segoe UI"/>
              </a:rPr>
              <a:t>22% → 36%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69480" y="4937760"/>
            <a:ext cx="21031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06056" y="4919472"/>
            <a:ext cx="2029967" cy="73152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97496" y="5047488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NNIA / acquired cust.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Segoe UI"/>
              </a:rPr>
              <a:t>baseline → target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09760" y="4937760"/>
            <a:ext cx="21031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546336" y="4919472"/>
            <a:ext cx="2029967" cy="73152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37776" y="5047488"/>
            <a:ext cx="18653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0B1E34"/>
                </a:solidFill>
                <a:latin typeface="Segoe UI"/>
              </a:rPr>
              <a:t>Qualified @MOB12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FEB"/>
                </a:solidFill>
                <a:latin typeface="Segoe UI"/>
              </a:rPr>
              <a:t>baseline → target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815584"/>
            <a:ext cx="11064240" cy="603504"/>
          </a:xfrm>
          <a:prstGeom prst="roundRect">
            <a:avLst>
              <a:gd name="adj" fmla="val 5000"/>
            </a:avLst>
          </a:prstGeom>
          <a:solidFill>
            <a:srgbClr val="F3E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5815584"/>
            <a:ext cx="54864" cy="603504"/>
          </a:xfrm>
          <a:prstGeom prst="rect">
            <a:avLst/>
          </a:prstGeom>
          <a:solidFill>
            <a:srgbClr val="C99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5907024"/>
            <a:ext cx="10698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B4D13"/>
                </a:solidFill>
                <a:latin typeface="Segoe UI"/>
              </a:rPr>
              <a:t>Closing the new-cohort gap — 22% → 36% wealth penetration @MOB3 — across a +9.6% CAGR inflow to 2.86m customers is the single largest lever on the 7.2pp gap to 50%.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PREMIER WEALTH · ACQUISITION MODEL &amp; STRATEGY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7A"/>
                </a:solidFill>
                <a:latin typeface="Segoe UI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