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IWPB-9 (total)</c:v>
                </c:pt>
              </c:strCache>
            </c:strRef>
          </c:tx>
          <c:spPr>
            <a:ln w="38100">
              <a:solidFill>
                <a:srgbClr val="0B1E34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32.2</c:v>
                </c:pt>
                <c:pt idx="1">
                  <c:v>33.0</c:v>
                </c:pt>
                <c:pt idx="2">
                  <c:v>36.2</c:v>
                </c:pt>
                <c:pt idx="3">
                  <c:v>36.6</c:v>
                </c:pt>
                <c:pt idx="4">
                  <c:v>38.6</c:v>
                </c:pt>
                <c:pt idx="5">
                  <c:v>40.8</c:v>
                </c:pt>
                <c:pt idx="6">
                  <c:v>42.8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Asia</c:v>
                </c:pt>
              </c:strCache>
            </c:strRef>
          </c:tx>
          <c:spPr>
            <a:ln w="25400">
              <a:solidFill>
                <a:srgbClr val="1F6FEB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34.9</c:v>
                </c:pt>
                <c:pt idx="1">
                  <c:v>37.5</c:v>
                </c:pt>
                <c:pt idx="2">
                  <c:v>39.9</c:v>
                </c:pt>
                <c:pt idx="3">
                  <c:v>40.6</c:v>
                </c:pt>
                <c:pt idx="4">
                  <c:v>42.3</c:v>
                </c:pt>
                <c:pt idx="5">
                  <c:v>44.2</c:v>
                </c:pt>
                <c:pt idx="6">
                  <c:v>46.2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Americas &amp; EU</c:v>
                </c:pt>
              </c:strCache>
            </c:strRef>
          </c:tx>
          <c:spPr>
            <a:ln w="25400">
              <a:solidFill>
                <a:srgbClr val="0F9488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30.8</c:v>
                </c:pt>
                <c:pt idx="1">
                  <c:v>29.9</c:v>
                </c:pt>
                <c:pt idx="2">
                  <c:v>33.8</c:v>
                </c:pt>
                <c:pt idx="3">
                  <c:v>33.9</c:v>
                </c:pt>
                <c:pt idx="4">
                  <c:v>36.0</c:v>
                </c:pt>
                <c:pt idx="5">
                  <c:v>38.2</c:v>
                </c:pt>
                <c:pt idx="6">
                  <c:v>40.4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Middle East</c:v>
                </c:pt>
              </c:strCache>
            </c:strRef>
          </c:tx>
          <c:spPr>
            <a:ln w="25400">
              <a:solidFill>
                <a:srgbClr val="D97706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15.8</c:v>
                </c:pt>
                <c:pt idx="1">
                  <c:v>17.2</c:v>
                </c:pt>
                <c:pt idx="2">
                  <c:v>19.8</c:v>
                </c:pt>
                <c:pt idx="3">
                  <c:v>22.4</c:v>
                </c:pt>
                <c:pt idx="4">
                  <c:v>26.3</c:v>
                </c:pt>
                <c:pt idx="5">
                  <c:v>29.9</c:v>
                </c:pt>
                <c:pt idx="6">
                  <c:v>30.8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50% ambition</c:v>
                </c:pt>
              </c:strCache>
            </c:strRef>
          </c:tx>
          <c:spPr>
            <a:ln w="19050">
              <a:solidFill>
                <a:srgbClr val="C9962F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7D0DA"/>
            </a:solidFill>
          </a:ln>
        </c:spPr>
        <c:txPr>
          <a:bodyPr/>
          <a:lstStyle/>
          <a:p>
            <a:pPr>
              <a:defRPr sz="1100">
                <a:solidFill>
                  <a:srgbClr val="5C6B7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5.0"/>
          <c:min val="10.0"/>
        </c:scaling>
        <c:delete val="0"/>
        <c:axPos val="l"/>
        <c:majorGridlines>
          <c:spPr>
            <a:ln>
              <a:solidFill>
                <a:srgbClr val="EEF2F6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1000">
                <a:solidFill>
                  <a:srgbClr val="5C6B7A"/>
                </a:solidFill>
              </a:defRPr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0515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E34"/>
                </a:solidFill>
                <a:latin typeface="Segoe UI"/>
              </a:rPr>
              <a:t>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704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D8E4"/>
                </a:solidFill>
                <a:latin typeface="Segoe UI"/>
              </a:rPr>
              <a:t>PREMIER WEALTH · STRATEGY · FRP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The Path to 50% Wealth Penetration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CDD8E4"/>
                </a:solidFill>
                <a:latin typeface="Segoe UI"/>
              </a:rPr>
              <a:t>The current FRP lands penetration at 42.8% by 2030 — 7.2pp short of the ambition. A portfolio-system diagnosis of why, and the interventions that close the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4"/>
                </a:solidFill>
                <a:latin typeface="Segoe UI"/>
              </a:rPr>
              <a:t>We are not on track for 50% — the plan itself only reaches </a:t>
            </a:r>
            <a:r>
              <a:rPr sz="1400" b="1">
                <a:solidFill>
                  <a:srgbClr val="C9962F"/>
                </a:solidFill>
                <a:latin typeface="Segoe UI"/>
              </a:rPr>
              <a:t>42.8%</a:t>
            </a:r>
            <a:r>
              <a:rPr sz="1400" b="0">
                <a:solidFill>
                  <a:srgbClr val="B9C6D4"/>
                </a:solidFill>
                <a:latin typeface="Segoe UI"/>
              </a:rPr>
              <a:t> by 2030. The issue is not one campaign; it is a portfolio system problem across </a:t>
            </a:r>
            <a:r>
              <a:rPr sz="1400" b="1">
                <a:solidFill>
                  <a:srgbClr val="C9962F"/>
                </a:solidFill>
                <a:latin typeface="Segoe UI"/>
              </a:rPr>
              <a:t>acquisition quality, on-book conversion, and structural dilution.</a:t>
            </a:r>
            <a:r>
              <a:rPr sz="1400" b="0">
                <a:solidFill>
                  <a:srgbClr val="B9C6D4"/>
                </a:solidFill>
                <a:latin typeface="Segoe UI"/>
              </a:rPr>
              <a:t> We diagnose each stage, act on the true bottleneck, and manage the full funnel on common measures.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8298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8298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EXECUTIVE OBJECTIVE &amp; CASE FOR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The plan does not reach the ambition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7889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29384"/>
            <a:ext cx="2478024" cy="795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B1E34"/>
                </a:solidFill>
                <a:latin typeface="Segoe UI"/>
              </a:rPr>
              <a:t>50%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Wealth penetration ambition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783080"/>
            <a:ext cx="27889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929384"/>
            <a:ext cx="2478024" cy="795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C0392B"/>
                </a:solidFill>
                <a:latin typeface="Segoe UI"/>
              </a:rPr>
              <a:t>42.8%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IWPB-9 at 2030 on current FRP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783080"/>
            <a:ext cx="27432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929384"/>
            <a:ext cx="2432304" cy="795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B4562B"/>
                </a:solidFill>
                <a:latin typeface="Segoe UI"/>
              </a:rPr>
              <a:t>−7.2pt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Gap the plan does not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99232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B1E34"/>
                </a:solidFill>
                <a:latin typeface="Segoe UI"/>
              </a:rPr>
              <a:t>Trajectory (IWPB-9, MOB4+): </a:t>
            </a:r>
            <a:r>
              <a:rPr sz="1200" b="0">
                <a:solidFill>
                  <a:srgbClr val="10202E"/>
                </a:solidFill>
                <a:latin typeface="Segoe UI"/>
              </a:rPr>
              <a:t>32.2% (2024A) → 36.2% (2026 FRP) → 42.8% (2030 FRP). No region reaches 50% — Asia 46.2%, Americas &amp; EU 40.4%, Middle East 30.8%.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86200"/>
            <a:ext cx="594360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41648"/>
            <a:ext cx="5577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Why the trajectory falls short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B4562B"/>
                </a:solidFill>
                <a:latin typeface="Segoe UI"/>
              </a:rPr>
              <a:t>▸ Acquisition quality is the drag</a:t>
            </a:r>
            <a:r>
              <a:rPr sz="1150" b="0">
                <a:solidFill>
                  <a:srgbClr val="10202E"/>
                </a:solidFill>
                <a:latin typeface="Segoe UI"/>
              </a:rPr>
              <a:t> — new-cohort penetration @MOB3 is only 22% vs 36% on-book; MOB3 qualification is flat (~38–39%).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0202E"/>
                </a:solidFill>
                <a:latin typeface="Segoe UI"/>
              </a:rPr>
              <a:t>▸ Conversion of the on-book base alone cannot cover the gap.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0202E"/>
                </a:solidFill>
                <a:latin typeface="Segoe UI"/>
              </a:rPr>
              <a:t>▸ Some markets improve penetration by shrinking the denominator, not growing wealth.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Two non-negotiable outcomes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121408"/>
            <a:ext cx="457200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0296" y="2103120"/>
            <a:ext cx="4498848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286000"/>
            <a:ext cx="4206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F9488"/>
                </a:solidFill>
                <a:latin typeface="Segoe UI"/>
              </a:rPr>
              <a:t>OUTCOME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1E34"/>
                </a:solidFill>
                <a:latin typeface="Segoe UI"/>
              </a:rPr>
              <a:t>Grow absolute wealth customers and NNIA.</a:t>
            </a:r>
            <a:r>
              <a:rPr sz="1100" b="0">
                <a:solidFill>
                  <a:srgbClr val="10202E"/>
                </a:solidFill>
                <a:latin typeface="Segoe UI"/>
              </a:rPr>
              <a:t> Active customers plan +9.6% CAGR to 2.86m by 2030 — qualified, wealth-active growth must outpace raw acquisition.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429000"/>
            <a:ext cx="457200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40296" y="3410712"/>
            <a:ext cx="4498848" cy="82296"/>
          </a:xfrm>
          <a:prstGeom prst="roundRect">
            <a:avLst>
              <a:gd name="adj" fmla="val 50000"/>
            </a:avLst>
          </a:prstGeom>
          <a:solidFill>
            <a:srgbClr val="B4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593592"/>
            <a:ext cx="4206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B4562B"/>
                </a:solidFill>
                <a:latin typeface="Segoe UI"/>
              </a:rPr>
              <a:t>OUTCOME 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1E34"/>
                </a:solidFill>
                <a:latin typeface="Segoe UI"/>
              </a:rPr>
              <a:t>Improve penetration without relying solely on denominator reduction.</a:t>
            </a:r>
            <a:r>
              <a:rPr sz="1100" b="0">
                <a:solidFill>
                  <a:srgbClr val="10202E"/>
                </a:solidFill>
                <a:latin typeface="Segoe UI"/>
              </a:rPr>
              <a:t> Clean-up supports health but cannot be the primary route to 50%.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4754880"/>
            <a:ext cx="4572000" cy="658368"/>
          </a:xfrm>
          <a:prstGeom prst="roundRect">
            <a:avLst>
              <a:gd name="adj" fmla="val 6000"/>
            </a:avLst>
          </a:prstGeom>
          <a:solidFill>
            <a:srgbClr val="F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03720" y="4754880"/>
            <a:ext cx="54864" cy="658368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888" y="487375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B4D13"/>
                </a:solidFill>
                <a:latin typeface="Segoe UI"/>
              </a:rPr>
              <a:t>We cannot convert our way out of continuously acquiring low-quality customers.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WEALTH PENETRATION TRAJECTORY · 2024 →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Every region plateaus below the 50% line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783080"/>
          <a:ext cx="10881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C6B7A"/>
                </a:solidFill>
                <a:latin typeface="Segoe UI"/>
              </a:rPr>
              <a:t>Source: FRP wealth-penetration table (portfolio MOB4+), refresh 17/6/2026. MX is the only market planned above 50% (60.8%); US the furthest below (22.7%).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DEFINE THE WEALTH GROWTH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One common funnel — where value is created or lost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943600" cy="566928"/>
          </a:xfrm>
          <a:prstGeom prst="roundRect">
            <a:avLst>
              <a:gd name="adj" fmla="val 12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95681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11095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Acquired / upgraded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11095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entry into Premier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68880"/>
            <a:ext cx="5943600" cy="566928"/>
          </a:xfrm>
          <a:prstGeom prst="roundRect">
            <a:avLst>
              <a:gd name="adj" fmla="val 12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59689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6FB0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51176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Funded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51176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money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08960"/>
            <a:ext cx="5943600" cy="566928"/>
          </a:xfrm>
          <a:prstGeom prst="roundRect">
            <a:avLst>
              <a:gd name="adj" fmla="val 12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23697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9488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191256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TRB qualified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191256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47% on-book · 39% @MOB3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49040"/>
            <a:ext cx="5943600" cy="566928"/>
          </a:xfrm>
          <a:prstGeom prst="roundRect">
            <a:avLst>
              <a:gd name="adj" fmla="val 12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87705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8A4C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831336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Wealth activated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831336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36% on-book · 22% @MOB3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89120"/>
            <a:ext cx="5943600" cy="566928"/>
          </a:xfrm>
          <a:prstGeom prst="roundRect">
            <a:avLst>
              <a:gd name="adj" fmla="val 12000"/>
            </a:avLst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451713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962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71416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NNIA generating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471416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net-new invested assets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029200"/>
            <a:ext cx="5943600" cy="566928"/>
          </a:xfrm>
          <a:prstGeom prst="roundRect">
            <a:avLst>
              <a:gd name="adj" fmla="val 12000"/>
            </a:avLst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515721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5A1E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111496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Sustained / retained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111496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still qualified at MOB12+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68756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C6B7A"/>
                </a:solidFill>
                <a:latin typeface="Segoe UI"/>
              </a:rPr>
              <a:t>The MOB3 vs on-book gap at stages 3–4 is the tell: new inflow qualifies and activates at roughly half the on-book rate.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Three customer pools, one architecture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2148840"/>
            <a:ext cx="457200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40296" y="2130552"/>
            <a:ext cx="4498848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86600" y="229514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EB"/>
                </a:solidFill>
                <a:latin typeface="Segoe UI"/>
              </a:rPr>
              <a:t>NTB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23042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E34"/>
                </a:solidFill>
                <a:latin typeface="Segoe UI"/>
              </a:rPr>
              <a:t>New acquisition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624328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Segoe UI"/>
              </a:rPr>
              <a:t>Are we bringing in customers capable of driving wealth growth?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3172968"/>
            <a:ext cx="457200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940296" y="3154680"/>
            <a:ext cx="4498848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86600" y="3319272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D6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9488"/>
                </a:solidFill>
                <a:latin typeface="Segoe UI"/>
              </a:rPr>
              <a:t>ETB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332841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E34"/>
                </a:solidFill>
                <a:latin typeface="Segoe UI"/>
              </a:rPr>
              <a:t>Existing customers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648456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Segoe UI"/>
              </a:rPr>
              <a:t>Where is investable money sitting on-book, and why isn't it converting?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03720" y="4197096"/>
            <a:ext cx="457200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0296" y="4178808"/>
            <a:ext cx="4498848" cy="82296"/>
          </a:xfrm>
          <a:prstGeom prst="roundRect">
            <a:avLst>
              <a:gd name="adj" fmla="val 50000"/>
            </a:avLst>
          </a:prstGeom>
          <a:solidFill>
            <a:srgbClr val="B4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086600" y="434340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6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4562B"/>
                </a:solidFill>
                <a:latin typeface="Segoe UI"/>
              </a:rPr>
              <a:t>CLEAN-UP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43525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E34"/>
                </a:solidFill>
                <a:latin typeface="Segoe UI"/>
              </a:rPr>
              <a:t>Value protection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672583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Segoe UI"/>
              </a:rPr>
              <a:t>What is structurally dragging penetration and productivity down?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CURRENT POSITION BY MARKET · IWPB-9, PORTFOLIO MOB4+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Which markets are on track — and where the funnel breaks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4" cy="37307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3890"/>
                <a:gridCol w="1039033"/>
                <a:gridCol w="1039033"/>
                <a:gridCol w="1039033"/>
                <a:gridCol w="1088511"/>
                <a:gridCol w="1236945"/>
                <a:gridCol w="1088511"/>
                <a:gridCol w="183067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Market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Pen. 2024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Pen. 2026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Pen. 2030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Gap to 50%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TRB-qual 2026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Pen. @MOB3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Classification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>Priority Growth Markets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Singapore (SGH)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25.9%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43.7%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+6.3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38.7%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Fix acquisition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UAE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15.8%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19.8%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30.8%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+19.2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11.4%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Fix acquisition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India (INM)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29.1%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32.6%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45.0%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+5.0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12.2%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Fix conversion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AOC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49.4%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+0.6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69.2%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44.7%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Scale what works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>Wealth &amp; International Connectivity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Malaysia (MYH)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36.6%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37.0%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+9.7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60.1%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19.5%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Fix conversion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Taiwan (TWN)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42.0%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47.7%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48.8%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+1.2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58.9%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Scale what works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Channel Is. (CIIOM)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18.2%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+30.0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51.0%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Clean up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17.4%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17.7%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22.7%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+27.3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9.5%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Full intervention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Mexico (MX)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45.7%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60.8%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−10.8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36.1%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20.7%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Scale what works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IWPB-9 Markets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32.2%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36.2%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42.8%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+7.2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47.1%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22.0%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Fix conversion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44768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C6B7A"/>
                </a:solidFill>
                <a:latin typeface="Segoe UI"/>
              </a:rPr>
              <a:t>Regions at 2030: Asia 46.2% · Americas &amp; EU 40.4% · Middle East 30.8%. Classification maps each market to its dominant broken stage — the funnel diagnostic before prescribing a 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962F"/>
                </a:solidFill>
                <a:latin typeface="Segoe UI"/>
              </a:rPr>
              <a:t>SECTION I ·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514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Diagnose the funnel before prescribing a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B9C6D4"/>
                </a:solidFill>
                <a:latin typeface="Segoe UI"/>
              </a:rPr>
              <a:t>Three diagnoses, one architecture. Are we acquiring the wrong customers — or the right customers we fail to convert? Do we lack opportunity on-book — or fail to commercialise it? And which customers are permanently diluting the portfolio?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8298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8298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NTB DIAGNOSTIC · NEW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Are we acquiring customers capable of driving wealth growth?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835640" cy="96012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1E34"/>
                </a:solidFill>
                <a:latin typeface="Segoe UI"/>
              </a:rPr>
              <a:t>22.0%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Segoe UI"/>
              </a:rPr>
              <a:t>New-cohort penetration @MOB3 (2026) — vs 36.2% on-book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1024" y="1956816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1E34"/>
                </a:solidFill>
                <a:latin typeface="Segoe UI"/>
              </a:rPr>
              <a:t>~38–39%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Segoe UI"/>
              </a:rPr>
              <a:t>TRB qualification @MOB3 — flat since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956816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1E34"/>
                </a:solidFill>
                <a:latin typeface="Segoe UI"/>
              </a:rPr>
              <a:t>69,163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Segoe UI"/>
              </a:rPr>
              <a:t>TRB per customer @MOB3 ($) — dipped to 62k in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4272" y="1956816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1E34"/>
                </a:solidFill>
                <a:latin typeface="Segoe UI"/>
              </a:rPr>
              <a:t>$1,552m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Segoe UI"/>
              </a:rPr>
              <a:t>TRB volume @MOB3 (2026 FRP)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2084831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" y="2907792"/>
            <a:ext cx="2011679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3108960"/>
            <a:ext cx="1810511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B1E34"/>
                </a:solidFill>
                <a:latin typeface="Segoe UI"/>
              </a:rPr>
              <a:t>A · Source quality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Which channels generate funded, qualified, wealth-active customers?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Digital · branch · referral · international · mortgage · upgrade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48356" y="2926080"/>
            <a:ext cx="2084831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4932" y="2907792"/>
            <a:ext cx="2011679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4660" y="3108960"/>
            <a:ext cx="1810511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B1E34"/>
                </a:solidFill>
                <a:latin typeface="Segoe UI"/>
              </a:rPr>
              <a:t>B · Early-life funding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TRB at MOB0/1/3/6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Funded within X days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Qualified within Y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2926080"/>
            <a:ext cx="2084831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47488" y="2907792"/>
            <a:ext cx="2011679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3108960"/>
            <a:ext cx="1810511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B1E34"/>
                </a:solidFill>
                <a:latin typeface="Segoe UI"/>
              </a:rPr>
              <a:t>C · Wealth activation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Penetration at MOB1/3/6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Investment account opened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First wealth product · NNIA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3468" y="2926080"/>
            <a:ext cx="2084831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10044" y="2907792"/>
            <a:ext cx="2011679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9772" y="3108960"/>
            <a:ext cx="1810511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B1E34"/>
                </a:solidFill>
                <a:latin typeface="Segoe UI"/>
              </a:rPr>
              <a:t>D · Sustainability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Still qualified at MOB12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Downgraded / inactive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Returning vs new money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6024" y="2926080"/>
            <a:ext cx="2084831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72600" y="2907792"/>
            <a:ext cx="2011679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3108960"/>
            <a:ext cx="1810511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B1E34"/>
                </a:solidFill>
                <a:latin typeface="Segoe UI"/>
              </a:rPr>
              <a:t>E · Economics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Acquisition &amp; offer cost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TRB &amp; NNIA generated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• Payback &amp; EV by channel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983480"/>
            <a:ext cx="10835640" cy="65836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983480"/>
            <a:ext cx="54864" cy="658368"/>
          </a:xfrm>
          <a:prstGeom prst="rect">
            <a:avLst/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5102352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4"/>
                </a:solidFill>
                <a:latin typeface="Segoe UI"/>
              </a:rPr>
              <a:t>Verdict: we are acquiring the wrong quality — new cohorts qualify and activate at ~half the on-book rate, and MOB3 qualification is not improving. Acquisition, not just conversion, must be fixed (UAE &amp; Singapore worst at ~10–11% MOB3).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MOMENTUM CALLOUT · IWPB CORE-5 · MTD JUNE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The engine can run — when the funnel is orchestrated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50215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" y="1856231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84831"/>
            <a:ext cx="313639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NNM ($m)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1E34"/>
                </a:solidFill>
                <a:latin typeface="Segoe UI"/>
              </a:rPr>
              <a:t>1,189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MTD Jun W4 · vs PY 408 · Plan 1,190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8A4C"/>
                </a:solidFill>
                <a:latin typeface="Segoe UI"/>
              </a:rPr>
              <a:t>+191% vs PY · (0)% to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74519"/>
            <a:ext cx="350215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856231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084831"/>
            <a:ext cx="313639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Investment NNIA ($m)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1E34"/>
                </a:solidFill>
                <a:latin typeface="Segoe UI"/>
              </a:rPr>
              <a:t>1,101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MTD Jun W4 · vs PY 286 · Plan 834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8A4C"/>
                </a:solidFill>
                <a:latin typeface="Segoe UI"/>
              </a:rPr>
              <a:t>&gt;200% vs PY · +32% to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74519"/>
            <a:ext cx="350215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29015" y="1856231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B4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084831"/>
            <a:ext cx="313639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Premier Net New Deposit ($m)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1E34"/>
                </a:solidFill>
                <a:latin typeface="Segoe UI"/>
              </a:rPr>
              <a:t>88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MTD Jun W4 · vs PY 122 · Plan 356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Segoe UI"/>
              </a:rPr>
              <a:t>(28)% vs PY · (75)% to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14800"/>
            <a:ext cx="10835640" cy="658368"/>
          </a:xfrm>
          <a:prstGeom prst="roundRect">
            <a:avLst>
              <a:gd name="adj" fmla="val 6000"/>
            </a:avLst>
          </a:prstGeom>
          <a:solidFill>
            <a:srgbClr val="F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114800"/>
            <a:ext cx="54864" cy="658368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233672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B4D13"/>
                </a:solidFill>
                <a:latin typeface="Segoe UI"/>
              </a:rPr>
              <a:t>Week 4 delivered $1.1bn NNM, led by improved Investment NNIA (China Mutual Funds) and Premier deposits back in positive territory, aided by UAE salary-credit inflows.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20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C6B7A"/>
                </a:solidFill>
                <a:latin typeface="Segoe UI"/>
              </a:rPr>
              <a:t>Core-5 = China, Singapore, Malaysia, Taiwan, UAE. By-market NNM: China 456 · UAE 538 · Taiwan 180 · Malaysia 37 · Singapore (22). Deposits still lag plan — the orchestration gap the ETB engine must close.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ETB DIAGNOSTIC · EXISTING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Where is investable money sitting — and why isn't it converting?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Segment the ETB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60604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2376" y="2130552"/>
            <a:ext cx="2532888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7685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E34"/>
                </a:solidFill>
                <a:latin typeface="Segoe UI"/>
              </a:rPr>
              <a:t>CASA idle cash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48840"/>
            <a:ext cx="260604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5576" y="2130552"/>
            <a:ext cx="2532888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7685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E34"/>
                </a:solidFill>
                <a:latin typeface="Segoe UI"/>
              </a:rPr>
              <a:t>TD maturity / rollover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52344"/>
            <a:ext cx="260604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2376" y="2734056"/>
            <a:ext cx="2532888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E34"/>
                </a:solidFill>
                <a:latin typeface="Segoe UI"/>
              </a:rPr>
              <a:t>Wealth customers, top-up potential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752344"/>
            <a:ext cx="260604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65576" y="2734056"/>
            <a:ext cx="2532888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88036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E34"/>
                </a:solidFill>
                <a:latin typeface="Segoe UI"/>
              </a:rPr>
              <a:t>Qualified non-wealth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55848"/>
            <a:ext cx="260604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6" y="3337560"/>
            <a:ext cx="2532888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8386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E34"/>
                </a:solidFill>
                <a:latin typeface="Segoe UI"/>
              </a:rPr>
              <a:t>Near-qualified customers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355848"/>
            <a:ext cx="260604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65576" y="3337560"/>
            <a:ext cx="2532888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348386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E34"/>
                </a:solidFill>
                <a:latin typeface="Segoe UI"/>
              </a:rPr>
              <a:t>High-propensity digital leads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2336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605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Where the NNIA sits (May YTD, $mn): </a:t>
            </a:r>
            <a:r>
              <a:rPr sz="1050" b="0">
                <a:solidFill>
                  <a:srgbClr val="10202E"/>
                </a:solidFill>
                <a:latin typeface="Segoe UI"/>
              </a:rPr>
              <a:t>Asia 5,867 · Americas &amp; EU 516 (−794 vs plan) · Middle East 447 (−238 vs plan). Global mix skews to Mutual Funds (6.7bn) &amp; Structured (5.9bn); Equities run negative.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7830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Diagnose each segment through six lenses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1945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221991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Opportunity size — how much addressable balance exists?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6517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679191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Propensity — which customers are most likely to act?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1089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136391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Trigger — maturity, liquidity event, browsing, intl movement.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5661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593591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Offer fit — is there a relevant hero product or solution?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0233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050792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Execution — was the customer contacted, advised, converted?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4805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507992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Persistence — did the NNIA remain, or was it recycled money?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212080"/>
            <a:ext cx="10835640" cy="65836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5212080"/>
            <a:ext cx="54864" cy="658368"/>
          </a:xfrm>
          <a:prstGeom prst="rect">
            <a:avLst/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" y="5330952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4"/>
                </a:solidFill>
                <a:latin typeface="Segoe UI"/>
              </a:rPr>
              <a:t>Verdict: the opportunity exists — Core-5 NNIA runs &gt;200% vs PY — but Americas &amp; EU and Middle East miss plan by $0.8bn and $0.2bn, and Premier deposits lag plan 75%. The failure is commercialisation and persistence, not raw opportunity.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PORTFOLIO DILUTION DIAGNOSTIC · VALUE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What is structurally dragging penetration down?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Sources of structural dilution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21408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2376" y="2103120"/>
            <a:ext cx="5276088" cy="82296"/>
          </a:xfrm>
          <a:prstGeom prst="roundRect">
            <a:avLst>
              <a:gd name="adj" fmla="val 50000"/>
            </a:avLst>
          </a:prstGeom>
          <a:solidFill>
            <a:srgbClr val="B4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5029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▸ Customers below the qualification threshold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▸ Grace-period &amp; persistently inactive Premier customers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▸ Re-upgraded customers with no incremental value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▸ P1PA / multi-market customers with unclear qualification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▸ Low-value customers consuming RM capacity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▸ Upgrade–downgrade recyclers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▸ Markets improving penetration only by denominator reduction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24528"/>
            <a:ext cx="5349240" cy="1417320"/>
          </a:xfrm>
          <a:prstGeom prst="roundRect">
            <a:avLst>
              <a:gd name="adj" fmla="val 5000"/>
            </a:avLst>
          </a:prstGeom>
          <a:solidFill>
            <a:srgbClr val="F6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70832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A2F14"/>
                </a:solidFill>
                <a:latin typeface="Segoe UI"/>
              </a:rPr>
              <a:t>Data flags: </a:t>
            </a:r>
            <a:r>
              <a:rPr sz="1050" b="0">
                <a:solidFill>
                  <a:srgbClr val="7A2F14"/>
                </a:solidFill>
                <a:latin typeface="Segoe UI"/>
              </a:rPr>
              <a:t>CIIOM swings 0→18→14→20% and TRB-qual 38→51→42% — denominator noise. US stuck ~17–23% on a 300k+ book. Revenue per customer is flat (2,022→2,025) while TRB per customer rises — value isn't converting to revenue.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A simple portfolio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48840"/>
            <a:ext cx="25146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37376" y="2130552"/>
            <a:ext cx="2441448" cy="82296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4942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F8A4C"/>
                </a:solidFill>
                <a:latin typeface="Segoe UI"/>
              </a:rPr>
              <a:t>Grow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Segoe UI"/>
              </a:rPr>
              <a:t>Clear upside; invest.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148840"/>
            <a:ext cx="25146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89136" y="2130552"/>
            <a:ext cx="2441448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24942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F6FEB"/>
                </a:solidFill>
                <a:latin typeface="Segoe UI"/>
              </a:rPr>
              <a:t>Convert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Segoe UI"/>
              </a:rPr>
              <a:t>Credible near-term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88920"/>
            <a:ext cx="25146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7376" y="2770632"/>
            <a:ext cx="2441448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889503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9488"/>
                </a:solidFill>
                <a:latin typeface="Segoe UI"/>
              </a:rPr>
              <a:t>Retain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Segoe UI"/>
              </a:rPr>
              <a:t>Valuable; protect.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788920"/>
            <a:ext cx="25146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89136" y="2770632"/>
            <a:ext cx="2441448" cy="8229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889503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B8860B"/>
                </a:solidFill>
                <a:latin typeface="Segoe UI"/>
              </a:rPr>
              <a:t>Migrate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Segoe UI"/>
              </a:rPr>
              <a:t>Right-fit service model.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429000"/>
            <a:ext cx="25146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7376" y="3410712"/>
            <a:ext cx="2441448" cy="82296"/>
          </a:xfrm>
          <a:prstGeom prst="roundRect">
            <a:avLst>
              <a:gd name="adj" fmla="val 50000"/>
            </a:avLst>
          </a:prstGeom>
          <a:solidFill>
            <a:srgbClr val="B4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52958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B4562B"/>
                </a:solidFill>
                <a:latin typeface="Segoe UI"/>
              </a:rPr>
              <a:t>Downgrade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Segoe UI"/>
              </a:rPr>
              <a:t>Persistently unqualified.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429000"/>
            <a:ext cx="25146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89136" y="3410712"/>
            <a:ext cx="2441448" cy="822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352958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C0392B"/>
                </a:solidFill>
                <a:latin typeface="Segoe UI"/>
              </a:rPr>
              <a:t>Exit / inactive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Segoe UI"/>
              </a:rPr>
              <a:t>No credible path.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224528"/>
            <a:ext cx="5120640" cy="65836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224528"/>
            <a:ext cx="54864" cy="658368"/>
          </a:xfrm>
          <a:prstGeom prst="rect">
            <a:avLst/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4343400"/>
            <a:ext cx="47548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4"/>
                </a:solidFill>
                <a:latin typeface="Segoe UI"/>
              </a:rPr>
              <a:t>Which customers have a credible path to value, and which are permanently diluting the portfolio?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962F"/>
                </a:solidFill>
                <a:latin typeface="Segoe UI"/>
              </a:rPr>
              <a:t>SECTION II ·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514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Act on the true bottleneck — one lever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B9C6D4"/>
                </a:solidFill>
                <a:latin typeface="Segoe UI"/>
              </a:rPr>
              <a:t>Fix contactability before blaming conversion. Make acquisition the first quality-control point, run ETB as an orchestrated conversion engine, and remove structural dilution without gaming the denominator.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8298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8298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NTB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Make acquisition the first quality-control 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0215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" y="1810512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11680"/>
            <a:ext cx="320954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1E34"/>
                </a:solidFill>
                <a:latin typeface="Segoe UI"/>
              </a:rPr>
              <a:t>1 · Define “good NTB”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funded within X days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TRB qualified within Y days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generates NNIA within Z days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stays qualified past early life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target: MOB3 pen. 22% → 36%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50215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810512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20954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1E34"/>
                </a:solidFill>
                <a:latin typeface="Segoe UI"/>
              </a:rPr>
              <a:t>2 · Quality gates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by market · channel · campaign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by proposition · product hook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by customer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50215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29015" y="1810512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2011680"/>
            <a:ext cx="320954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1E34"/>
                </a:solidFill>
                <a:latin typeface="Segoe UI"/>
              </a:rPr>
              <a:t>3 · Separate acquisition from conversion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acquired · funded · qualified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wealth activated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NNIA producing · sustained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26280"/>
            <a:ext cx="5349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2376" y="4507992"/>
            <a:ext cx="5276088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90872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B1E34"/>
                </a:solidFill>
                <a:latin typeface="Segoe UI"/>
              </a:rPr>
              <a:t>4 · Reallocate acquisition investment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Scale high-quality channels (AOC-type, MOB3 pen. 45%)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Redesign weak channels (UAE/SGH MOB3 ~10%)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Stop persistently dilutive acquisition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526280"/>
            <a:ext cx="5349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8776" y="4507992"/>
            <a:ext cx="5276088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690872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B1E34"/>
                </a:solidFill>
                <a:latin typeface="Segoe UI"/>
              </a:rPr>
              <a:t>5 · Build hero conversion pathways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TD hook → income / yield solution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International (UAE salary credits) → offshore activation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Mortgage → investable balance · Card-only → funded Premier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ETB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Convert addressable balances into sustainable NNIA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499616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" y="1901952"/>
            <a:ext cx="1426463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03120"/>
            <a:ext cx="12984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1E34"/>
                </a:solidFill>
                <a:latin typeface="Segoe UI"/>
              </a:rPr>
              <a:t>1 · Identify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Customer-level opportunity pools.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5708" y="1920240"/>
            <a:ext cx="1499616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72284" y="1901952"/>
            <a:ext cx="1426463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5436" y="2103120"/>
            <a:ext cx="12984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1E34"/>
                </a:solidFill>
                <a:latin typeface="Segoe UI"/>
              </a:rPr>
              <a:t>2 · Prioritise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Balance × propensity × trigger × EV.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85616" y="1920240"/>
            <a:ext cx="1499616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22192" y="1901952"/>
            <a:ext cx="1426463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2103120"/>
            <a:ext cx="12984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1E34"/>
                </a:solidFill>
                <a:latin typeface="Segoe UI"/>
              </a:rPr>
              <a:t>3 · Nurture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Engage before the event — esp. TD maturity.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5524" y="1920240"/>
            <a:ext cx="1499616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72100" y="1901952"/>
            <a:ext cx="1426463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5252" y="2103120"/>
            <a:ext cx="12984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1E34"/>
                </a:solidFill>
                <a:latin typeface="Segoe UI"/>
              </a:rPr>
              <a:t>4 · Match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A few relevant propositions, not broad pushing.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85432" y="1920240"/>
            <a:ext cx="1499616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22008" y="1901952"/>
            <a:ext cx="1426463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2103120"/>
            <a:ext cx="12984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1E34"/>
                </a:solidFill>
                <a:latin typeface="Segoe UI"/>
              </a:rPr>
              <a:t>5 · Route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Digital · RM · specialist · campaign.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35340" y="1920240"/>
            <a:ext cx="1499616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71916" y="1901952"/>
            <a:ext cx="1426463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5068" y="2103120"/>
            <a:ext cx="12984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1E34"/>
                </a:solidFill>
                <a:latin typeface="Segoe UI"/>
              </a:rPr>
              <a:t>6 · Convert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Appointment → recommendation → NNIA.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85248" y="1920240"/>
            <a:ext cx="1499616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21824" y="1901952"/>
            <a:ext cx="1426463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4976" y="2103120"/>
            <a:ext cx="12984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1E34"/>
                </a:solidFill>
                <a:latin typeface="Segoe UI"/>
              </a:rPr>
              <a:t>7 · Retain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02E"/>
                </a:solidFill>
                <a:latin typeface="Segoe UI"/>
              </a:rPr>
              <a:t>Does flow remain at 3/6/12 months?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480560"/>
            <a:ext cx="10835640" cy="658368"/>
          </a:xfrm>
          <a:prstGeom prst="roundRect">
            <a:avLst>
              <a:gd name="adj" fmla="val 6000"/>
            </a:avLst>
          </a:prstGeom>
          <a:solidFill>
            <a:srgbClr val="F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480560"/>
            <a:ext cx="54864" cy="658368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599432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B4D13"/>
                </a:solidFill>
                <a:latin typeface="Segoe UI"/>
              </a:rPr>
              <a:t>ETB conversion must be run as an orchestrated funnel — not isolated campaigns and uncoordinated leads. Close the deposit-to-plan gap (Premier NND at 25% of plan) by nurturing before the liquidity event.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PORTFOLIO CLEAN-UP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Remove structural dilution — without gaming the denominator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0215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" y="1810512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B4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11680"/>
            <a:ext cx="320954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1E34"/>
                </a:solidFill>
                <a:latin typeface="Segoe UI"/>
              </a:rPr>
              <a:t>A · Reaffirm eligibility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Qualification rules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Grace periods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International / multi-market treatment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Upgrade &amp; downgrade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50215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810512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B4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20954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1E34"/>
                </a:solidFill>
                <a:latin typeface="Segoe UI"/>
              </a:rPr>
              <a:t>B · Apply disciplined actions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Retain high-potential customers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Migrate to appropriate service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Downgrade persistently unqualified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Protect credible recovery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50215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29015" y="1810512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B4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2011680"/>
            <a:ext cx="320954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1E34"/>
                </a:solidFill>
                <a:latin typeface="Segoe UI"/>
              </a:rPr>
              <a:t>C · Prevent re-entry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Stop upgrade–downgrade recycling (CIIOM)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Minimum quality thresholds on upgrades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Review origin &amp; performance of upgrades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17720"/>
            <a:ext cx="10835640" cy="658368"/>
          </a:xfrm>
          <a:prstGeom prst="roundRect">
            <a:avLst>
              <a:gd name="adj" fmla="val 6000"/>
            </a:avLst>
          </a:prstGeom>
          <a:solidFill>
            <a:srgbClr val="F6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617720"/>
            <a:ext cx="54864" cy="658368"/>
          </a:xfrm>
          <a:prstGeom prst="rect">
            <a:avLst/>
          </a:prstGeom>
          <a:solidFill>
            <a:srgbClr val="B4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736592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7A2F14"/>
                </a:solidFill>
                <a:latin typeface="Segoe UI"/>
              </a:rPr>
              <a:t>Guardrail — Clean-up supports portfolio health, but it cannot be the primary route to 50%. The denominator must fall because customers genuinely leave the segment, not to flatter the ratio.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INTEGRATED ACTION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Three levers, one sequenced view to 2030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35638" cy="2368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0692"/>
                <a:gridCol w="3326731"/>
                <a:gridCol w="3326731"/>
                <a:gridCol w="285148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Horizon</a:t>
                      </a:r>
                    </a:p>
                  </a:txBody>
                  <a:tcPr marL="54864" marR="54864" marT="18288" marB="18288" anchor="ctr">
                    <a:solidFill>
                      <a:srgbClr val="0B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NTB</a:t>
                      </a:r>
                    </a:p>
                  </a:txBody>
                  <a:tcPr marL="54864" marR="54864" marT="18288" marB="18288" anchor="ctr">
                    <a:solidFill>
                      <a:srgbClr val="0B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ETB</a:t>
                      </a:r>
                    </a:p>
                  </a:txBody>
                  <a:tcPr marL="54864" marR="54864" marT="18288" marB="18288" anchor="ctr">
                    <a:solidFill>
                      <a:srgbClr val="0B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Clean-up</a:t>
                      </a:r>
                    </a:p>
                  </a:txBody>
                  <a:tcPr marL="54864" marR="54864" marT="18288" marB="18288" anchor="ctr">
                    <a:solidFill>
                      <a:srgbClr val="0B1E3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Now – year end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Define quality; start channel &amp; vintage reporting; lift MOB3 penetration.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Priority balance campaigns; TD nurturing; convert Core-5 momentum to deposits.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Validate qualification &amp; downgrade rules; fix CIIOM-type noise.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Next year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Reallocate acquisition spend; redesign UAE/SGH channels.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Industrialise propensity, orchestration &amp; RM routing.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Embed recurring portfolio governance.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To 2030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Sustain high-quality inflow (MOB3 pen → on-book).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Repeatable NNIA growth engine; close US penetration gap.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Maintain portfolio purity &amp; capacity.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4526280"/>
            <a:ext cx="10835640" cy="12344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66344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1E34"/>
                </a:solidFill>
                <a:latin typeface="Segoe UI"/>
              </a:rPr>
              <a:t>Every action carries a complete decision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292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6584" y="50292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7" y="50292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2392" y="50292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Delivery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0296" y="50292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Financial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50292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Data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4" y="50292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Decision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MEASUREMENT &amp; MANAGEMENT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A monthly cockpit that closes the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0215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" y="1810512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01168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EB"/>
                </a:solidFill>
                <a:latin typeface="Segoe UI"/>
              </a:rPr>
              <a:t>NTB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95728"/>
            <a:ext cx="319125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Funded rate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TRB-qualified rate @MOB3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Penetration @MOB3 / MOB6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NNIA per acquired customer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Qualification retention @MOB12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50215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5696" y="1810512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01168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D6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9488"/>
                </a:solidFill>
                <a:latin typeface="Segoe UI"/>
              </a:rPr>
              <a:t>ETB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395728"/>
            <a:ext cx="319125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Addressable balance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Customers contacted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Recommendations delivered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Conversion rate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NNIA generated · flow retained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50215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9015" y="1810512"/>
            <a:ext cx="3429000" cy="82296"/>
          </a:xfrm>
          <a:prstGeom prst="roundRect">
            <a:avLst>
              <a:gd name="adj" fmla="val 50000"/>
            </a:avLst>
          </a:prstGeom>
          <a:solidFill>
            <a:srgbClr val="B4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57031" y="201168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6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4562B"/>
                </a:solidFill>
                <a:latin typeface="Segoe UI"/>
              </a:rPr>
              <a:t>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395728"/>
            <a:ext cx="319125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Qualified customer rate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Wealth penetration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Downgrade / inactive rate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Wealth customer growth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0202E"/>
                </a:solidFill>
                <a:latin typeface="Segoe UI"/>
              </a:rPr>
              <a:t>• Revenue &amp; NNIA per qual. cust.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89120"/>
            <a:ext cx="10835640" cy="1371600"/>
          </a:xfrm>
          <a:prstGeom prst="roundRect">
            <a:avLst>
              <a:gd name="adj" fmla="val 5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537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For every red metric — the management decision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983480"/>
            <a:ext cx="2331720" cy="548640"/>
          </a:xfrm>
          <a:prstGeom prst="roundRect">
            <a:avLst/>
          </a:prstGeom>
          <a:solidFill>
            <a:srgbClr val="0F2A44"/>
          </a:solidFill>
          <a:ln w="9525">
            <a:solidFill>
              <a:srgbClr val="1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Diagnosed bottleneck?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02920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962F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84448" y="4983480"/>
            <a:ext cx="2331720" cy="548640"/>
          </a:xfrm>
          <a:prstGeom prst="roundRect">
            <a:avLst/>
          </a:prstGeom>
          <a:solidFill>
            <a:srgbClr val="0F2A44"/>
          </a:solidFill>
          <a:ln w="9525">
            <a:solidFill>
              <a:srgbClr val="1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Action underway?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502920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962F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4983480"/>
            <a:ext cx="2331720" cy="548640"/>
          </a:xfrm>
          <a:prstGeom prst="roundRect">
            <a:avLst/>
          </a:prstGeom>
          <a:solidFill>
            <a:srgbClr val="0F2A44"/>
          </a:solidFill>
          <a:ln w="9525">
            <a:solidFill>
              <a:srgbClr val="1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When is the hypothesis tested?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502920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962F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4983480"/>
            <a:ext cx="2331720" cy="548640"/>
          </a:xfrm>
          <a:prstGeom prst="roundRect">
            <a:avLst/>
          </a:prstGeom>
          <a:solidFill>
            <a:srgbClr val="0F2A44"/>
          </a:solidFill>
          <a:ln w="9525">
            <a:solidFill>
              <a:srgbClr val="1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What stops if it fails?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EXECUTIVE DECISIONS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Seven decisions to put us on the path to 50%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10512"/>
            <a:ext cx="10835640" cy="603504"/>
          </a:xfrm>
          <a:prstGeom prst="roundRect">
            <a:avLst/>
          </a:prstGeom>
          <a:solidFill>
            <a:srgbClr val="0F2A44"/>
          </a:solidFill>
          <a:ln w="9525">
            <a:solidFill>
              <a:srgbClr val="1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95681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20240"/>
            <a:ext cx="9966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AF0F6"/>
                </a:solidFill>
                <a:latin typeface="Segoe UI"/>
              </a:rPr>
              <a:t>Confirm 50% wealth penetration as the governing ambition and agree the horizon — the FRP currently lands at 42.8%.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82596"/>
            <a:ext cx="10835640" cy="603504"/>
          </a:xfrm>
          <a:prstGeom prst="roundRect">
            <a:avLst/>
          </a:prstGeom>
          <a:solidFill>
            <a:srgbClr val="0F2A44"/>
          </a:solidFill>
          <a:ln w="9525">
            <a:solidFill>
              <a:srgbClr val="1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628900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92324"/>
            <a:ext cx="9966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AF0F6"/>
                </a:solidFill>
                <a:latin typeface="Segoe UI"/>
              </a:rPr>
              <a:t>Agree the minimum NTB quality standard and a MOB3 penetration target above today's 22%.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54679"/>
            <a:ext cx="10835640" cy="603504"/>
          </a:xfrm>
          <a:prstGeom prst="roundRect">
            <a:avLst/>
          </a:prstGeom>
          <a:solidFill>
            <a:srgbClr val="0F2A44"/>
          </a:solidFill>
          <a:ln w="9525">
            <a:solidFill>
              <a:srgbClr val="1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3300984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64408"/>
            <a:ext cx="9966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AF0F6"/>
                </a:solidFill>
                <a:latin typeface="Segoe UI"/>
              </a:rPr>
              <a:t>Mandate channel- and vintage-level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26763"/>
            <a:ext cx="10835640" cy="603504"/>
          </a:xfrm>
          <a:prstGeom prst="roundRect">
            <a:avLst/>
          </a:prstGeom>
          <a:solidFill>
            <a:srgbClr val="0F2A44"/>
          </a:solidFill>
          <a:ln w="9525">
            <a:solidFill>
              <a:srgbClr val="1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7306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36491"/>
            <a:ext cx="9966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AF0F6"/>
                </a:solidFill>
                <a:latin typeface="Segoe UI"/>
              </a:rPr>
              <a:t>Establish one accountable owner for ETB commercialisation.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98848"/>
            <a:ext cx="10835640" cy="603504"/>
          </a:xfrm>
          <a:prstGeom prst="roundRect">
            <a:avLst/>
          </a:prstGeom>
          <a:solidFill>
            <a:srgbClr val="0F2A44"/>
          </a:solidFill>
          <a:ln w="9525">
            <a:solidFill>
              <a:srgbClr val="1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4645152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08576"/>
            <a:ext cx="9966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AF0F6"/>
                </a:solidFill>
                <a:latin typeface="Segoe UI"/>
              </a:rPr>
              <a:t>Approve disciplined portfolio clean-up rules — with the denominator guardrail.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170932"/>
            <a:ext cx="10835640" cy="603504"/>
          </a:xfrm>
          <a:prstGeom prst="roundRect">
            <a:avLst/>
          </a:prstGeom>
          <a:solidFill>
            <a:srgbClr val="0F2A44"/>
          </a:solidFill>
          <a:ln w="9525">
            <a:solidFill>
              <a:srgbClr val="1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531723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280660"/>
            <a:ext cx="9966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AF0F6"/>
                </a:solidFill>
                <a:latin typeface="Segoe UI"/>
              </a:rPr>
              <a:t>Require each market to submit a quantified path to 50% (US, UAE, CIIOM first).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843016"/>
            <a:ext cx="10835640" cy="603504"/>
          </a:xfrm>
          <a:prstGeom prst="roundRect">
            <a:avLst/>
          </a:prstGeom>
          <a:solidFill>
            <a:srgbClr val="0F2A44"/>
          </a:solidFill>
          <a:ln w="9525">
            <a:solidFill>
              <a:srgbClr val="1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" y="5989320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E34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952744"/>
            <a:ext cx="9966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AF0F6"/>
                </a:solidFill>
                <a:latin typeface="Segoe UI"/>
              </a:rPr>
              <a:t>Embed the actions into FRP before the planning cycle closes.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8298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829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962F"/>
                </a:solidFill>
                <a:latin typeface="Segoe U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514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Data, definitions &amp;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B9C6D4"/>
                </a:solidFill>
                <a:latin typeface="Segoe UI"/>
              </a:rPr>
              <a:t>Full per-market FRP trajectories (2024–2030), the three-taxonomy mapping key, the rendered penetration chart, and source notes. Figures transcribed from the 16 Jul 2026 pack — verify against the source workbook before external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8298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D8298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APPENDIX · TAXONOMY MAPPING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Reconciling the three market views in the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C6B7A"/>
                </a:solidFill>
                <a:latin typeface="Segoe UI"/>
              </a:rPr>
              <a:t>The pack uses three different market taxonomies. The deck leads on IWPB-9 (FRP) with a Core-5 momentum callout. This key reconciles them.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331720"/>
          <a:ext cx="10835638" cy="37307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0116"/>
                <a:gridCol w="2561151"/>
                <a:gridCol w="2364139"/>
                <a:gridCol w="394023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IWPB-9 FRP code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Market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In Core-5 (NNM MTD)?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In NNIA product tree (region)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>Priority Growth Markets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SGH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Singapore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IWPB Asia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UAE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United Arab Emirates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IWPB Middle East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INM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India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(India N/A in Core-5)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IWPB Asia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AOC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AOC — confirm decode*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(China / others under IWPB Asia)*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>Wealth &amp; International Connectivity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MYH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Malaysia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IWPB Asia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TWN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Taiwan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IWPB Asia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CIIOM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Channel Islands &amp; Isle of Man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IWPB Americas &amp; Europe (Channel Is.)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United States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IWPB Americas &amp; Europe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MX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Mexico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IWPB Americas &amp; Europe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1E34"/>
                          </a:solidFill>
                          <a:latin typeface="Segoe UI"/>
                        </a:rPr>
                        <a:t>— (not a single FRP line)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China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Yes (largest Core-5 driver)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202E"/>
                          </a:solidFill>
                          <a:latin typeface="Segoe UI"/>
                        </a:rPr>
                        <a:t>IWPB Asia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C6B7A"/>
                </a:solidFill>
                <a:latin typeface="Segoe UI"/>
              </a:rPr>
              <a:t>* AOC appears as an FRP Priority-Growth code but its decode is not stated in the pack; China is explicit in the NNM/NNIA views but not a standalone FRP priority line. Confirm the AOC↔China/other mapping with the source workbook. NNIA tree also carries AMH, HASE and UK RFB entities outside IWPB-9.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A1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APPENDIX · WEALTH PENETRATION (PORTFOLIO MOB4+)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Wealth penetration % — full trajectory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6" cy="425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4652"/>
                <a:gridCol w="1128712"/>
                <a:gridCol w="1128712"/>
                <a:gridCol w="1128712"/>
                <a:gridCol w="1128712"/>
                <a:gridCol w="1128712"/>
                <a:gridCol w="1128712"/>
                <a:gridCol w="112871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Market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2026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2030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>Priority Growth Markets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Singapore (SGH)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23.9%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25.9%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28.5%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38.4%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43.7%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UAE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15.8%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17.2%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19.8%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22.4%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30.8%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India (INM)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29.1%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30.1%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32.6%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34.7%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38.0%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42.0%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45.0%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AOC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45.6%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48.5%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48.7%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48.9%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49.4%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>Wealth &amp; International Connectivity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Malaysia (MYH)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36.6%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36.0%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37.0%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37.8%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38.5%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39.3%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Taiwan (TWN)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42.0%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42.8%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47.7%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45.8%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46.8%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47.8%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48.8%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Channel Is. (CIIOM)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8.5%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18.2%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14.0%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16.0%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18.0%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17.4%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17.1%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17.7%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19.1%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20.5%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21.7%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22.7%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Mexico (MX)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45.7%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48.4%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53.2%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55.7%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58.2%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60.8%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IWPB-9 Markets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32.2%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33.0%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36.2%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36.6%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38.6%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40.8%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42.8%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IWPB-9 Asia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34.9%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37.5%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42.3%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44.2%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46.2%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IWPB-9 Americas &amp; EU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30.8%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33.8%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33.9%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36.0%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38.2%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IWPB-9 Middle East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15.8%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17.2%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19.8%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22.4%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30.8%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7220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C6B7A"/>
                </a:solidFill>
                <a:latin typeface="Segoe UI"/>
              </a:rPr>
              <a:t>Portfolio MOB4+, 2024 Actuals → 2030 FRP. IWPB-9 reaches 42.8% vs 50% ambition. MX only market above 50%; US furthest below.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A2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APPENDIX · TRB QUALIFIERS (PORTFOLIO MOB4+)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TRB qualifiers % — full trajectory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6" cy="425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4652"/>
                <a:gridCol w="1128712"/>
                <a:gridCol w="1128712"/>
                <a:gridCol w="1128712"/>
                <a:gridCol w="1128712"/>
                <a:gridCol w="1128712"/>
                <a:gridCol w="1128712"/>
                <a:gridCol w="112871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Market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2026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2030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>Priority Growth Markets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Singapore (SGH)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33.9%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36.6%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38.7%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41.6%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43.6%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45.6%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47.7%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UAE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22.8%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27.9%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34.8%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45.8%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51.3%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India (INM)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31.3%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30.1%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30.7%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31.1%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33.2%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AOC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54.1%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61.7%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69.2%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78.2%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83.3%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86.3%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88.3%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>Wealth &amp; International Connectivity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Malaysia (MYH)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59.0%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59.0%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60.1%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61.2%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62.5%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63.9%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65.5%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Taiwan (TWN)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53.1%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51.7%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58.9%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55.7%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57.7%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61.7%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Channel Is. (CIIOM)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47.1%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51.0%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41.7%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43.8%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46.0%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48.0%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41.0%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54.0%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57.0%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Mexico (MX)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31.9%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32.3%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36.1%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38.8%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41.1%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43.4%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45.0%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IWPB-9 Markets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42.6%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43.4%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47.1%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50.7%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53.5%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55.9%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58.1%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IWPB-9 Asia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47.9%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51.0%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55.1%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58.7%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61.3%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63.0%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64.8%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IWPB-9 Americas &amp; EU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38.5%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36.6%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39.5%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43.4%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46.1%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48.5%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IWPB-9 Middle East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22.8%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27.9%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34.8%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45.8%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51.3%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7220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C6B7A"/>
                </a:solidFill>
                <a:latin typeface="Segoe UI"/>
              </a:rPr>
              <a:t>Portfolio MOB4+. Qualification improves to 58.1% by 2030 but penetration lags — the qualify→activate→retain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A3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APPENDIX · ACTIVE CUSTOMERS &amp; NEW-COHORT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Volume grows; early-life quality lags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E34"/>
                </a:solidFill>
                <a:latin typeface="Segoe UI"/>
              </a:rPr>
              <a:t>Active customers (000s)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11680"/>
          <a:ext cx="6949434" cy="4183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3027"/>
                <a:gridCol w="745201"/>
                <a:gridCol w="745201"/>
                <a:gridCol w="745201"/>
                <a:gridCol w="745201"/>
                <a:gridCol w="745201"/>
                <a:gridCol w="745201"/>
                <a:gridCol w="74520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Market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2026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2027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2028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2029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2030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>Priority Growth Markets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Singapore (SGH)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161k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159k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178k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199k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224k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259k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296k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UAE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96k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100k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113k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127k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147k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172k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204k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India (INM)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127k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143k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157k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176k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200k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230k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261k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AOC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361k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373k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400k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424k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466k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522k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583k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>Wealth &amp; International Connectivity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Malaysia (MYH)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152k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155k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162k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172k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184k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198k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213k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Taiwan (TWN)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84k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85k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95k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105k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120k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140k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163k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Channel Is. (CIIOM)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124k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132k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86k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160k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179k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202k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229k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299k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302k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307k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324k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340k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354k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367k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Mexico (MX)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269k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362k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389k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410k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452k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498k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546k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IWPB-9 Markets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1,673k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1,810k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1,887k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2,097k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2,313k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2,575k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2,862k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IWPB-9 Asia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885k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914k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992k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1,076k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1,195k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1,348k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1,516k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IWPB-9 Americas &amp; EU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693k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796k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782k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894k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971k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1,055k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1,142k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IWPB-9 Middle East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96k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100k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113k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127k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147k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172k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204k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736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E34"/>
                </a:solidFill>
                <a:latin typeface="Segoe UI"/>
              </a:rPr>
              <a:t>New-cohort penetration @MOB3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4206236" cy="4183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2495"/>
                <a:gridCol w="841247"/>
                <a:gridCol w="841247"/>
                <a:gridCol w="84124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Market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5C6B7A"/>
                          </a:solidFill>
                          <a:latin typeface="Segoe UI"/>
                        </a:rPr>
                        <a:t>2026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>Priority Growth Markets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Singapore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6.1%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UAE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7.0%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11.4%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India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10.9%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9.8%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12.2%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AOC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41.0%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44.7%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44.7%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>Wealth &amp; International Connectivity</a:t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0B1E34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EF2F6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Malaysia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19.1%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19.5%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Taiwan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17.8%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18.1%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Channel Is.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3.2%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7.7%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8.0%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9.5%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Mexico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16.8%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20.7%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IWPB-9 Markets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20.3%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21.4%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22.0%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IWPB-9 Asia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26.5%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28.8%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IWPB-9 Americas &amp; EU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8.6%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11.2%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B1E34"/>
                          </a:solidFill>
                          <a:latin typeface="Segoe UI"/>
                        </a:rPr>
                        <a:t>IWPB-9 Middle East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4.6%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7.0%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0202E"/>
                          </a:solidFill>
                          <a:latin typeface="Segoe UI"/>
                        </a:rPr>
                        <a:t>11.4%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17220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C6B7A"/>
                </a:solidFill>
                <a:latin typeface="Segoe UI"/>
              </a:rPr>
              <a:t>Active customers plan +9.6% CAGR to 2030 (2.86m); Middle East fastest at +15.3%. Yet new-cohort penetration @MOB3 tops out at 22% — the acquisition-quality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A4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APPENDIX · NNIA BY REGION &amp; CORE-5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Investment NNIA (May YTD) and MTD June Week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65960"/>
          <a:ext cx="6400796" cy="24505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2808"/>
                <a:gridCol w="1089497"/>
                <a:gridCol w="1089497"/>
                <a:gridCol w="1089497"/>
                <a:gridCol w="108949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Region (IWPB)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2025 Actual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2026 Plan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Act vs Plan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2026 Actual*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 Asia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5,397.9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5,563.1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+303.9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5,867.0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 Middle East (UAE)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367.2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685.7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−238.4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447.3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 Americas &amp; Europe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1,086.3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1,309.4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−793.6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515.8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IWPB ex AMH/HASE/UK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6,851.4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7,558.2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−728.1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6,830.1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AMH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8,474.9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14,218.1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+3,660.3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17,878.4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HASE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1,670.8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2,601.3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−455.9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2,145.4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Global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16,761.6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24,927.3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+2,572.1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27,499.4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434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C6B7A"/>
                </a:solidFill>
                <a:latin typeface="Segoe UI"/>
              </a:rPr>
              <a:t>* 2026 Actual derived = Plan + (Actuals vs Plan); reconciles with Actuals-vs-2025 variance. $mn.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E34"/>
                </a:solidFill>
                <a:latin typeface="Segoe UI"/>
              </a:rPr>
              <a:t>Core-5 · MTD June Week 4 ($m)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2148840"/>
          <a:ext cx="4389118" cy="12070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6935"/>
                <a:gridCol w="844061"/>
                <a:gridCol w="844061"/>
                <a:gridCol w="84406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Panel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W4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PY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5C6B7A"/>
                          </a:solidFill>
                          <a:latin typeface="Segoe UI"/>
                        </a:rPr>
                        <a:t>Plan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NNM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1,189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1,190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Investment NNIA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1,101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286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834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1E34"/>
                          </a:solidFill>
                          <a:latin typeface="Segoe UI"/>
                        </a:rPr>
                        <a:t>Premier NND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122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202E"/>
                          </a:solidFill>
                          <a:latin typeface="Segoe UI"/>
                        </a:rPr>
                        <a:t>356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0" y="3566160"/>
            <a:ext cx="4389120" cy="65836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3566160"/>
            <a:ext cx="54864" cy="658368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3685032"/>
            <a:ext cx="40233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4"/>
                </a:solidFill>
                <a:latin typeface="Segoe UI"/>
              </a:rPr>
              <a:t>Week 4: $1.1bn NNM, +191% vs PY; deposits still (75)% to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A5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APPENDIX · PENETRATION CHART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B1E34"/>
                </a:solidFill>
                <a:latin typeface="Segoe UI"/>
              </a:rPr>
              <a:t>Rendered trajectory and data provenance</a:t>
            </a:r>
          </a:p>
        </p:txBody>
      </p:sp>
      <p:pic>
        <p:nvPicPr>
          <p:cNvPr id="5" name="Picture 4" descr="chart-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909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1E34"/>
                </a:solidFill>
                <a:latin typeface="Segoe UI"/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9456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0202E"/>
                </a:solidFill>
                <a:latin typeface="Segoe UI"/>
              </a:rPr>
              <a:t>• Wealth NNIA Actuals pack — May YTD 2026 (refresh 17/6/2026)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0202E"/>
                </a:solidFill>
                <a:latin typeface="Segoe UI"/>
              </a:rPr>
              <a:t>• FRP tables: wealth penetration %, TRB-qualifiers % / #, TRB per customer, TRB volume, active customers, revenue per customer (portfolio MOB4+ and @MOB3)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0202E"/>
                </a:solidFill>
                <a:latin typeface="Segoe UI"/>
              </a:rPr>
              <a:t>• NNM MTD chart — 'Growing IWPB Wealth NNM', June Week 4 (Core-5)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0202E"/>
                </a:solidFill>
                <a:latin typeface="Segoe UI"/>
              </a:rPr>
              <a:t>• NNIA product split — Global May YTD 2025/2026 actuals, plan, variance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300"/>
              </a:spcAft>
            </a:pPr>
            <a:r>
              <a:rPr sz="1100" b="1" i="0">
                <a:solidFill>
                  <a:srgbClr val="B4562B"/>
                </a:solidFill>
                <a:latin typeface="Segoe UI"/>
              </a:rPr>
              <a:t>Caveat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C6B7A"/>
                </a:solidFill>
                <a:latin typeface="Segoe UI"/>
              </a:rPr>
              <a:t>All figures transcribed from screenshots; a few cells read from low-resolution captures. Verify against the source workbook before external use. Internal cross-checks (NNIA: 2025A + variance = Plan + Act-vs-Plan) reconcile.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PATH TO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373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A6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